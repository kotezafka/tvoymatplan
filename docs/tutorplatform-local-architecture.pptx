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19456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1">
                <a:solidFill>
                  <a:srgbClr val="66777D"/>
                </a:solidFill>
                <a:latin typeface="Aptos"/>
              </a:defRPr>
            </a:pPr>
            <a:r>
              <a:t>TUTORPLATFORM  / 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81381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3641"/>
                </a:solidFill>
                <a:latin typeface="Georgia"/>
              </a:defRPr>
            </a:pPr>
            <a:r>
              <a:t>Сервис на одном компьютере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66777D"/>
                </a:solidFill>
                <a:latin typeface="Aptos"/>
              </a:defRPr>
            </a:pPr>
            <a:r>
              <a:t>Сайт, уроки и обработка записи работают в локальном контуре.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438912"/>
            <a:ext cx="1965960" cy="356616"/>
          </a:xfrm>
          <a:prstGeom prst="roundRect">
            <a:avLst>
              <a:gd name="adj" fmla="val 12000"/>
            </a:avLst>
          </a:prstGeom>
          <a:solidFill>
            <a:srgbClr val="E8EFEA"/>
          </a:solidFill>
          <a:ln w="10160">
            <a:solidFill>
              <a:srgbClr val="9FB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38360" y="438912"/>
            <a:ext cx="19659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557B6D"/>
                </a:solidFill>
                <a:latin typeface="Aptos"/>
              </a:defRPr>
            </a:pPr>
            <a:r>
              <a:t>LOCAL  ·  DOCKER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9893808" cy="4882896"/>
          </a:xfrm>
          <a:prstGeom prst="roundRect">
            <a:avLst>
              <a:gd name="adj" fmla="val 12000"/>
            </a:avLst>
          </a:prstGeom>
          <a:solidFill>
            <a:srgbClr val="FBFAF7"/>
          </a:solidFill>
          <a:ln w="10160">
            <a:solidFill>
              <a:srgbClr val="C9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8" y="1499616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66777D"/>
                </a:solidFill>
                <a:latin typeface="Aptos"/>
              </a:defRPr>
            </a:pPr>
            <a:r>
              <a:t>ОДИН ЛОКАЛЬНЫЙ КОМПЬЮТЕР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99616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66777D"/>
                </a:solidFill>
                <a:latin typeface="Aptos"/>
              </a:defRPr>
            </a:pPr>
            <a:r>
              <a:t>DOCKER COMPOSE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7128" y="1828800"/>
            <a:ext cx="9372600" cy="0"/>
          </a:xfrm>
          <a:prstGeom prst="line">
            <a:avLst/>
          </a:prstGeom>
          <a:ln w="8890">
            <a:solidFill>
              <a:srgbClr val="C9D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14016" y="192024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1">
                <a:solidFill>
                  <a:srgbClr val="557B6D"/>
                </a:solidFill>
                <a:latin typeface="Aptos"/>
              </a:defRPr>
            </a:pPr>
            <a:r>
              <a:t>ПРИЛОЖЕНИЕ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192024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1">
                <a:solidFill>
                  <a:srgbClr val="527789"/>
                </a:solidFill>
                <a:latin typeface="Aptos"/>
              </a:defRPr>
            </a:pPr>
            <a:r>
              <a:t>КОМНАТА УРОКА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192024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1">
                <a:solidFill>
                  <a:srgbClr val="8B7147"/>
                </a:solidFill>
                <a:latin typeface="Aptos"/>
              </a:defRPr>
            </a:pPr>
            <a:r>
              <a:t>ХРАНЕНИЕ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92024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1">
                <a:solidFill>
                  <a:srgbClr val="8C6558"/>
                </a:solidFill>
                <a:latin typeface="Aptos"/>
              </a:defRPr>
            </a:pPr>
            <a:r>
              <a:t>ЛОКАЛЬНЫЕ МОДЕЛИ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73352" y="2944368"/>
            <a:ext cx="320040" cy="0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993392" y="2221992"/>
            <a:ext cx="0" cy="722376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93392" y="2221992"/>
            <a:ext cx="3552444" cy="0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45836" y="2221992"/>
            <a:ext cx="0" cy="155448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5504688" y="2327148"/>
            <a:ext cx="82296" cy="100584"/>
          </a:xfrm>
          <a:prstGeom prst="triangle">
            <a:avLst/>
          </a:prstGeom>
          <a:solidFill>
            <a:srgbClr val="A3B4BE"/>
          </a:solidFill>
          <a:ln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673352" y="3108960"/>
            <a:ext cx="356616" cy="0"/>
          </a:xfrm>
          <a:prstGeom prst="line">
            <a:avLst/>
          </a:prstGeom>
          <a:ln w="1587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029968" y="2724912"/>
            <a:ext cx="0" cy="384048"/>
          </a:xfrm>
          <a:prstGeom prst="line">
            <a:avLst/>
          </a:prstGeom>
          <a:ln w="1587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29968" y="2724912"/>
            <a:ext cx="384048" cy="0"/>
          </a:xfrm>
          <a:prstGeom prst="line">
            <a:avLst/>
          </a:prstGeom>
          <a:ln w="1587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372868" y="2674620"/>
            <a:ext cx="82296" cy="100584"/>
          </a:xfrm>
          <a:prstGeom prst="triangle">
            <a:avLst/>
          </a:prstGeom>
          <a:solidFill>
            <a:srgbClr val="557B6D"/>
          </a:solidFill>
          <a:ln>
            <a:solidFill>
              <a:srgbClr val="557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236976" y="2999232"/>
            <a:ext cx="0" cy="237744"/>
          </a:xfrm>
          <a:prstGeom prst="line">
            <a:avLst/>
          </a:prstGeom>
          <a:ln w="13970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3195828" y="3186684"/>
            <a:ext cx="82296" cy="100584"/>
          </a:xfrm>
          <a:prstGeom prst="triangle">
            <a:avLst/>
          </a:prstGeom>
          <a:solidFill>
            <a:srgbClr val="557B6D"/>
          </a:solidFill>
          <a:ln>
            <a:solidFill>
              <a:srgbClr val="557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059936" y="3529584"/>
            <a:ext cx="329184" cy="0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89120" y="2697480"/>
            <a:ext cx="0" cy="832104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2697480"/>
            <a:ext cx="310896" cy="0"/>
          </a:xfrm>
          <a:prstGeom prst="line">
            <a:avLst/>
          </a:prstGeom>
          <a:ln w="13335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4658868" y="2647188"/>
            <a:ext cx="82296" cy="100584"/>
          </a:xfrm>
          <a:prstGeom prst="triangle">
            <a:avLst/>
          </a:prstGeom>
          <a:solidFill>
            <a:srgbClr val="A3B4BE"/>
          </a:solidFill>
          <a:ln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084064" y="2999232"/>
            <a:ext cx="0" cy="237744"/>
          </a:xfrm>
          <a:prstGeom prst="line">
            <a:avLst/>
          </a:prstGeom>
          <a:ln w="12700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5042916" y="3186684"/>
            <a:ext cx="82296" cy="100584"/>
          </a:xfrm>
          <a:prstGeom prst="triangle">
            <a:avLst/>
          </a:prstGeom>
          <a:solidFill>
            <a:srgbClr val="A3B4BE"/>
          </a:solidFill>
          <a:ln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998464" y="2999232"/>
            <a:ext cx="0" cy="237744"/>
          </a:xfrm>
          <a:prstGeom prst="line">
            <a:avLst/>
          </a:prstGeom>
          <a:ln w="12700">
            <a:solidFill>
              <a:srgbClr val="A3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5957316" y="3186684"/>
            <a:ext cx="82296" cy="100584"/>
          </a:xfrm>
          <a:prstGeom prst="triangle">
            <a:avLst/>
          </a:prstGeom>
          <a:solidFill>
            <a:srgbClr val="A3B4BE"/>
          </a:solidFill>
          <a:ln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391656" y="3547872"/>
            <a:ext cx="594360" cy="0"/>
          </a:xfrm>
          <a:prstGeom prst="line">
            <a:avLst/>
          </a:prstGeom>
          <a:ln w="12700">
            <a:solidFill>
              <a:srgbClr val="8B7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6944868" y="3497579"/>
            <a:ext cx="82296" cy="100584"/>
          </a:xfrm>
          <a:prstGeom prst="triangle">
            <a:avLst/>
          </a:prstGeom>
          <a:solidFill>
            <a:srgbClr val="8B7147"/>
          </a:solidFill>
          <a:ln>
            <a:solidFill>
              <a:srgbClr val="8B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059936" y="3456432"/>
            <a:ext cx="237744" cy="0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97680" y="3456432"/>
            <a:ext cx="0" cy="859536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97680" y="4315968"/>
            <a:ext cx="4434840" cy="0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32520" y="3145536"/>
            <a:ext cx="0" cy="1170432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818120" y="3145536"/>
            <a:ext cx="914400" cy="0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818120" y="2999232"/>
            <a:ext cx="0" cy="146304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>
            <a:off x="7776972" y="2948939"/>
            <a:ext cx="82296" cy="100584"/>
          </a:xfrm>
          <a:prstGeom prst="triangle">
            <a:avLst/>
          </a:prstGeom>
          <a:solidFill>
            <a:srgbClr val="557B6D"/>
          </a:solidFill>
          <a:ln>
            <a:solidFill>
              <a:srgbClr val="557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059936" y="3913632"/>
            <a:ext cx="237744" cy="0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97680" y="3913632"/>
            <a:ext cx="0" cy="621792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97680" y="4535424"/>
            <a:ext cx="2578608" cy="0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876288" y="3547872"/>
            <a:ext cx="0" cy="987552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76288" y="3547872"/>
            <a:ext cx="109728" cy="0"/>
          </a:xfrm>
          <a:prstGeom prst="line">
            <a:avLst/>
          </a:prstGeom>
          <a:ln w="12065">
            <a:solidFill>
              <a:srgbClr val="557B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6944868" y="3497579"/>
            <a:ext cx="82296" cy="100584"/>
          </a:xfrm>
          <a:prstGeom prst="triangle">
            <a:avLst/>
          </a:prstGeom>
          <a:solidFill>
            <a:srgbClr val="557B6D"/>
          </a:solidFill>
          <a:ln>
            <a:solidFill>
              <a:srgbClr val="557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1480" y="2697480"/>
            <a:ext cx="1261872" cy="950976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 w="10160">
            <a:solidFill>
              <a:srgbClr val="AE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" y="2807208"/>
            <a:ext cx="32004" cy="731520"/>
          </a:xfrm>
          <a:prstGeom prst="rect">
            <a:avLst/>
          </a:prstGeom>
          <a:solidFill>
            <a:srgbClr val="557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770632"/>
            <a:ext cx="103327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Браузер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3008376"/>
            <a:ext cx="103327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ученик / преподаватель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6777D"/>
                </a:solidFill>
                <a:latin typeface="Aptos"/>
              </a:defRPr>
            </a:pPr>
            <a:r>
              <a:t>камера · микрофон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14016" y="2377440"/>
            <a:ext cx="1645920" cy="621792"/>
          </a:xfrm>
          <a:prstGeom prst="roundRect">
            <a:avLst>
              <a:gd name="adj" fmla="val 12000"/>
            </a:avLst>
          </a:prstGeom>
          <a:solidFill>
            <a:srgbClr val="E8EFEA"/>
          </a:solidFill>
          <a:ln w="10160">
            <a:solidFill>
              <a:srgbClr val="9FB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32304" y="2487168"/>
            <a:ext cx="32004" cy="402336"/>
          </a:xfrm>
          <a:prstGeom prst="rect">
            <a:avLst/>
          </a:prstGeom>
          <a:solidFill>
            <a:srgbClr val="557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51176" y="2450592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Next.js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51176" y="268833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сайт · интерфейс урока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14016" y="3236976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E8EFEA"/>
          </a:solidFill>
          <a:ln w="10160">
            <a:solidFill>
              <a:srgbClr val="9FB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2304" y="3346704"/>
            <a:ext cx="32004" cy="676656"/>
          </a:xfrm>
          <a:prstGeom prst="rect">
            <a:avLst/>
          </a:prstGeom>
          <a:solidFill>
            <a:srgbClr val="557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51176" y="33101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NestJS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51176" y="354787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пользователи · расписание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6777D"/>
                </a:solidFill>
                <a:latin typeface="Aptos"/>
              </a:defRPr>
            </a:pPr>
            <a:r>
              <a:t>занятия · отчёты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00016" y="2377440"/>
            <a:ext cx="1691640" cy="621792"/>
          </a:xfrm>
          <a:prstGeom prst="roundRect">
            <a:avLst>
              <a:gd name="adj" fmla="val 12000"/>
            </a:avLst>
          </a:prstGeom>
          <a:solidFill>
            <a:srgbClr val="E7EEF2"/>
          </a:solidFill>
          <a:ln w="10160"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18303" y="2487168"/>
            <a:ext cx="32004" cy="402336"/>
          </a:xfrm>
          <a:prstGeom prst="rect">
            <a:avLst/>
          </a:prstGeom>
          <a:solidFill>
            <a:srgbClr val="527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37176" y="245059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LiveKit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37176" y="26883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комнаты · аудио · видео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00016" y="3236976"/>
            <a:ext cx="758952" cy="621792"/>
          </a:xfrm>
          <a:prstGeom prst="roundRect">
            <a:avLst>
              <a:gd name="adj" fmla="val 12000"/>
            </a:avLst>
          </a:prstGeom>
          <a:solidFill>
            <a:srgbClr val="E7EEF2"/>
          </a:solidFill>
          <a:ln w="10160"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18303" y="3346704"/>
            <a:ext cx="32004" cy="402336"/>
          </a:xfrm>
          <a:prstGeom prst="rect">
            <a:avLst/>
          </a:prstGeom>
          <a:solidFill>
            <a:srgbClr val="527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37176" y="3310128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Redis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37176" y="3547872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состояние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14416" y="3236976"/>
            <a:ext cx="777240" cy="621792"/>
          </a:xfrm>
          <a:prstGeom prst="roundRect">
            <a:avLst>
              <a:gd name="adj" fmla="val 12000"/>
            </a:avLst>
          </a:prstGeom>
          <a:solidFill>
            <a:srgbClr val="E7EEF2"/>
          </a:solidFill>
          <a:ln w="10160">
            <a:solidFill>
              <a:srgbClr val="A3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32703" y="3346704"/>
            <a:ext cx="32004" cy="402336"/>
          </a:xfrm>
          <a:prstGeom prst="rect">
            <a:avLst/>
          </a:prstGeom>
          <a:solidFill>
            <a:srgbClr val="527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51576" y="33101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Egress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51576" y="35478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запись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2377440"/>
            <a:ext cx="1664208" cy="621792"/>
          </a:xfrm>
          <a:prstGeom prst="roundRect">
            <a:avLst>
              <a:gd name="adj" fmla="val 12000"/>
            </a:avLst>
          </a:prstGeom>
          <a:solidFill>
            <a:srgbClr val="F2EBDD"/>
          </a:solidFill>
          <a:ln w="10160">
            <a:solidFill>
              <a:srgbClr val="C5B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04303" y="2487168"/>
            <a:ext cx="32004" cy="402336"/>
          </a:xfrm>
          <a:prstGeom prst="rect">
            <a:avLst/>
          </a:prstGeom>
          <a:solidFill>
            <a:srgbClr val="8B7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23176" y="2450592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23176" y="2688336"/>
            <a:ext cx="1435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пользователи · расписание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86016" y="3236976"/>
            <a:ext cx="1664208" cy="621792"/>
          </a:xfrm>
          <a:prstGeom prst="roundRect">
            <a:avLst>
              <a:gd name="adj" fmla="val 12000"/>
            </a:avLst>
          </a:prstGeom>
          <a:solidFill>
            <a:srgbClr val="F2EBDD"/>
          </a:solidFill>
          <a:ln w="10160">
            <a:solidFill>
              <a:srgbClr val="C5B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04303" y="3346704"/>
            <a:ext cx="32004" cy="402336"/>
          </a:xfrm>
          <a:prstGeom prst="rect">
            <a:avLst/>
          </a:prstGeom>
          <a:solidFill>
            <a:srgbClr val="8B7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23176" y="3310128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MinIO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23176" y="3547872"/>
            <a:ext cx="1435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записи · файлы · отчёты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44000" y="2377440"/>
            <a:ext cx="2084831" cy="621792"/>
          </a:xfrm>
          <a:prstGeom prst="roundRect">
            <a:avLst>
              <a:gd name="adj" fmla="val 12000"/>
            </a:avLst>
          </a:prstGeom>
          <a:solidFill>
            <a:srgbClr val="EFE7E4"/>
          </a:solidFill>
          <a:ln w="10160">
            <a:solidFill>
              <a:srgbClr val="C8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162288" y="2487168"/>
            <a:ext cx="32004" cy="402336"/>
          </a:xfrm>
          <a:prstGeom prst="rect">
            <a:avLst/>
          </a:prstGeom>
          <a:solidFill>
            <a:srgbClr val="8C6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81160" y="2450592"/>
            <a:ext cx="1856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faster-whisper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2688336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распознавание речи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44000" y="3236976"/>
            <a:ext cx="2084831" cy="621792"/>
          </a:xfrm>
          <a:prstGeom prst="roundRect">
            <a:avLst>
              <a:gd name="adj" fmla="val 12000"/>
            </a:avLst>
          </a:prstGeom>
          <a:solidFill>
            <a:srgbClr val="EFE7E4"/>
          </a:solidFill>
          <a:ln w="10160">
            <a:solidFill>
              <a:srgbClr val="C8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62288" y="3346704"/>
            <a:ext cx="32004" cy="402336"/>
          </a:xfrm>
          <a:prstGeom prst="rect">
            <a:avLst/>
          </a:prstGeom>
          <a:solidFill>
            <a:srgbClr val="8C6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3310128"/>
            <a:ext cx="1856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03641"/>
                </a:solidFill>
                <a:latin typeface="Aptos"/>
              </a:defRPr>
            </a:pPr>
            <a:r>
              <a:t>Ollama · Qwen3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81160" y="3547872"/>
            <a:ext cx="1856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собирает отчёт по уроку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62272" y="32461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6777D"/>
                </a:solidFill>
                <a:latin typeface="Aptos"/>
              </a:defRPr>
            </a:pPr>
            <a:r>
              <a:t>токен · webhook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46320" y="418795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" b="0">
                <a:solidFill>
                  <a:srgbClr val="66777D"/>
                </a:solidFill>
                <a:latin typeface="Aptos"/>
              </a:defRPr>
            </a:pPr>
            <a:r>
              <a:t>расписание · статус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40740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" b="0">
                <a:solidFill>
                  <a:srgbClr val="66777D"/>
                </a:solidFill>
                <a:latin typeface="Aptos"/>
              </a:defRPr>
            </a:pPr>
            <a:r>
              <a:t>файлы · отчёты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167128" y="4828032"/>
            <a:ext cx="9372600" cy="0"/>
          </a:xfrm>
          <a:prstGeom prst="line">
            <a:avLst/>
          </a:prstGeom>
          <a:ln w="8890">
            <a:solidFill>
              <a:srgbClr val="C9D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176272" y="4882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66777D"/>
                </a:solidFill>
                <a:latin typeface="Aptos"/>
              </a:defRPr>
            </a:pPr>
            <a:r>
              <a:t>ПОСЛЕ УРОКА  /  ОБРАБОТКА ЗАПИСИ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212848" y="5376672"/>
            <a:ext cx="1554480" cy="694944"/>
          </a:xfrm>
          <a:prstGeom prst="roundRect">
            <a:avLst>
              <a:gd name="adj" fmla="val 12000"/>
            </a:avLst>
          </a:prstGeom>
          <a:solidFill>
            <a:srgbClr val="F2EBDD"/>
          </a:solidFill>
          <a:ln w="10160">
            <a:solidFill>
              <a:srgbClr val="C5B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231136" y="5486400"/>
            <a:ext cx="32004" cy="475488"/>
          </a:xfrm>
          <a:prstGeom prst="rect">
            <a:avLst/>
          </a:prstGeom>
          <a:solidFill>
            <a:srgbClr val="8B7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50008" y="5449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203641"/>
                </a:solidFill>
                <a:latin typeface="Aptos"/>
              </a:defRPr>
            </a:pPr>
            <a:r>
              <a:t>MinIO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50008" y="5687568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60" b="0">
                <a:solidFill>
                  <a:srgbClr val="66777D"/>
                </a:solidFill>
                <a:latin typeface="Aptos"/>
              </a:defRPr>
            </a:pPr>
            <a:r>
              <a:t>аудиозапись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050791" y="5376672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EFE7E4"/>
          </a:solidFill>
          <a:ln w="10160">
            <a:solidFill>
              <a:srgbClr val="C8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69079" y="5486400"/>
            <a:ext cx="32004" cy="475488"/>
          </a:xfrm>
          <a:prstGeom prst="rect">
            <a:avLst/>
          </a:prstGeom>
          <a:solidFill>
            <a:srgbClr val="8C6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87952" y="544982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203641"/>
                </a:solidFill>
                <a:latin typeface="Aptos"/>
              </a:defRPr>
            </a:pPr>
            <a:r>
              <a:t>faster-whisper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87952" y="5687568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60" b="0">
                <a:solidFill>
                  <a:srgbClr val="66777D"/>
                </a:solidFill>
                <a:latin typeface="Aptos"/>
              </a:defRPr>
            </a:pPr>
            <a:r>
              <a:t>текст урока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971032" y="5376672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E8EFEA"/>
          </a:solidFill>
          <a:ln w="10160">
            <a:solidFill>
              <a:srgbClr val="9FB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989320" y="5486400"/>
            <a:ext cx="32004" cy="475488"/>
          </a:xfrm>
          <a:prstGeom prst="rect">
            <a:avLst/>
          </a:prstGeom>
          <a:solidFill>
            <a:srgbClr val="557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08192" y="544982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203641"/>
                </a:solidFill>
                <a:latin typeface="Aptos"/>
              </a:defRPr>
            </a:pPr>
            <a:r>
              <a:t>NestJS API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08192" y="5687568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60" b="0">
                <a:solidFill>
                  <a:srgbClr val="66777D"/>
                </a:solidFill>
                <a:latin typeface="Aptos"/>
              </a:defRPr>
            </a:pPr>
            <a:r>
              <a:t>готовит контекст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882127" y="5376672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EFE7E4"/>
          </a:solidFill>
          <a:ln w="10160">
            <a:solidFill>
              <a:srgbClr val="C8A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00415" y="5486400"/>
            <a:ext cx="32004" cy="475488"/>
          </a:xfrm>
          <a:prstGeom prst="rect">
            <a:avLst/>
          </a:prstGeom>
          <a:solidFill>
            <a:srgbClr val="8C6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19288" y="5449824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203641"/>
                </a:solidFill>
                <a:latin typeface="Aptos"/>
              </a:defRPr>
            </a:pPr>
            <a:r>
              <a:t>Ollama · Qwen3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19288" y="5687568"/>
            <a:ext cx="1399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60" b="0">
                <a:solidFill>
                  <a:srgbClr val="66777D"/>
                </a:solidFill>
                <a:latin typeface="Aptos"/>
              </a:defRPr>
            </a:pPr>
            <a:r>
              <a:t>формирует отчёт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784080" y="5376672"/>
            <a:ext cx="1691640" cy="694944"/>
          </a:xfrm>
          <a:prstGeom prst="roundRect">
            <a:avLst>
              <a:gd name="adj" fmla="val 12000"/>
            </a:avLst>
          </a:prstGeom>
          <a:solidFill>
            <a:srgbClr val="F2EBDD"/>
          </a:solidFill>
          <a:ln w="10160">
            <a:solidFill>
              <a:srgbClr val="C5B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02367" y="5486400"/>
            <a:ext cx="32004" cy="475488"/>
          </a:xfrm>
          <a:prstGeom prst="rect">
            <a:avLst/>
          </a:prstGeom>
          <a:solidFill>
            <a:srgbClr val="8B7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921240" y="544982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203641"/>
                </a:solidFill>
                <a:latin typeface="Aptos"/>
              </a:defRPr>
            </a:pPr>
            <a:r>
              <a:t>MinIO + PostgreSQL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21240" y="5687568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60" b="0">
                <a:solidFill>
                  <a:srgbClr val="66777D"/>
                </a:solidFill>
                <a:latin typeface="Aptos"/>
              </a:defRPr>
            </a:pPr>
            <a:r>
              <a:t>файлы · статус урока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3794760" y="5724144"/>
            <a:ext cx="228599" cy="0"/>
          </a:xfrm>
          <a:prstGeom prst="line">
            <a:avLst/>
          </a:prstGeom>
          <a:ln w="12700">
            <a:solidFill>
              <a:srgbClr val="66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Isosceles Triangle 114"/>
          <p:cNvSpPr/>
          <p:nvPr/>
        </p:nvSpPr>
        <p:spPr>
          <a:xfrm rot="5400000">
            <a:off x="3982211" y="5673852"/>
            <a:ext cx="82296" cy="100584"/>
          </a:xfrm>
          <a:prstGeom prst="triangle">
            <a:avLst/>
          </a:prstGeom>
          <a:solidFill>
            <a:srgbClr val="66777D"/>
          </a:solidFill>
          <a:ln>
            <a:solidFill>
              <a:srgbClr val="66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5705856" y="5724144"/>
            <a:ext cx="237744" cy="0"/>
          </a:xfrm>
          <a:prstGeom prst="line">
            <a:avLst/>
          </a:prstGeom>
          <a:ln w="12700">
            <a:solidFill>
              <a:srgbClr val="66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5902452" y="5673852"/>
            <a:ext cx="82296" cy="100584"/>
          </a:xfrm>
          <a:prstGeom prst="triangle">
            <a:avLst/>
          </a:prstGeom>
          <a:solidFill>
            <a:srgbClr val="66777D"/>
          </a:solidFill>
          <a:ln>
            <a:solidFill>
              <a:srgbClr val="66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7626096" y="5724144"/>
            <a:ext cx="228600" cy="0"/>
          </a:xfrm>
          <a:prstGeom prst="line">
            <a:avLst/>
          </a:prstGeom>
          <a:ln w="12700">
            <a:solidFill>
              <a:srgbClr val="66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/>
          <p:cNvSpPr/>
          <p:nvPr/>
        </p:nvSpPr>
        <p:spPr>
          <a:xfrm rot="5400000">
            <a:off x="7813548" y="5673852"/>
            <a:ext cx="82296" cy="100584"/>
          </a:xfrm>
          <a:prstGeom prst="triangle">
            <a:avLst/>
          </a:prstGeom>
          <a:solidFill>
            <a:srgbClr val="66777D"/>
          </a:solidFill>
          <a:ln>
            <a:solidFill>
              <a:srgbClr val="66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9537191" y="5724144"/>
            <a:ext cx="219457" cy="0"/>
          </a:xfrm>
          <a:prstGeom prst="line">
            <a:avLst/>
          </a:prstGeom>
          <a:ln w="12700">
            <a:solidFill>
              <a:srgbClr val="66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Isosceles Triangle 120"/>
          <p:cNvSpPr/>
          <p:nvPr/>
        </p:nvSpPr>
        <p:spPr>
          <a:xfrm rot="5400000">
            <a:off x="9715500" y="5673852"/>
            <a:ext cx="82296" cy="100584"/>
          </a:xfrm>
          <a:prstGeom prst="triangle">
            <a:avLst/>
          </a:prstGeom>
          <a:solidFill>
            <a:srgbClr val="66777D"/>
          </a:solidFill>
          <a:ln>
            <a:solidFill>
              <a:srgbClr val="66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94560" y="614476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10" b="0">
                <a:solidFill>
                  <a:srgbClr val="66777D"/>
                </a:solidFill>
                <a:latin typeface="Aptos"/>
              </a:defRPr>
            </a:pPr>
            <a:r>
              <a:t>Запись, транскрипт и отчёт остаются в локальном контуре.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